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F"/>
                </a:solidFill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Lightbulb Menu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0" cy="27432"/>
          </a:xfrm>
          <a:prstGeom prst="rect">
            <a:avLst/>
          </a:prstGeom>
          <a:solidFill>
            <a:srgbClr val="4A9E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context menu — the core of collaborative proofreading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2860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MutationObserver watches neuroglancer's segment list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Injects a three-dot button (</a:t>
            </a:r>
            <a:r>
              <a:rPr lang="en-US" sz="1200" b="1" dirty="0">
                <a:solidFill>
                  <a:srgbClr val="4A9EFF"/>
                </a:solidFill>
              </a:rPr>
              <a:t>⋯</a:t>
            </a:r>
            <a:r>
              <a:rPr lang="en-US" sz="1200" dirty="0">
                <a:solidFill>
                  <a:srgbClr val="FFFFFF"/>
                </a:solidFill>
              </a:rPr>
              <a:t>) on every segment row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Click opens a context menu with 6 action sections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Color-coded status pip always visible on each segment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Label badge shows cell type inline next to segment 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Custom event system (nge:seg-status-changed) syncs all UI without refetching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3931920" cy="123444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4864" cy="1234440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A9EFF"/>
                </a:solidFill>
              </a:rPr>
              <a:t>CAVE API</a:t>
            </a:r>
            <a:r>
              <a:rPr lang="en-US" sz="1100" dirty="0">
                <a:solidFill>
                  <a:srgbClr val="8A9BBF"/>
                </a:solidFill>
              </a:rPr>
              <a:t> (status + cell type persistence)  •  </a:t>
            </a:r>
            <a:r>
              <a:rPr lang="en-US" sz="1100" b="1" dirty="0">
                <a:solidFill>
                  <a:srgbClr val="4A9EFF"/>
                </a:solidFill>
              </a:rPr>
              <a:t>Supabase</a:t>
            </a:r>
            <a:r>
              <a:rPr lang="en-US" sz="1100" dirty="0">
                <a:solidFill>
                  <a:srgbClr val="8A9BBF"/>
                </a:solidFill>
              </a:rPr>
              <a:t> (claims, help requests, edit log)  •  </a:t>
            </a:r>
            <a:r>
              <a:rPr lang="en-US" sz="1100" b="1" dirty="0">
                <a:solidFill>
                  <a:srgbClr val="4A9EFF"/>
                </a:solidFill>
              </a:rPr>
              <a:t>Cell Library</a:t>
            </a:r>
            <a:r>
              <a:rPr lang="en-US" sz="1100" dirty="0">
                <a:solidFill>
                  <a:srgbClr val="8A9BBF"/>
                </a:solidFill>
              </a:rPr>
              <a:t> (claim system)  •  </a:t>
            </a:r>
            <a:r>
              <a:rPr lang="en-US" sz="1100" b="1" dirty="0">
                <a:solidFill>
                  <a:srgbClr val="4A9EFF"/>
                </a:solidFill>
              </a:rPr>
              <a:t>Activity Feed</a:t>
            </a:r>
            <a:r>
              <a:rPr lang="en-US" sz="1100" dirty="0">
                <a:solidFill>
                  <a:srgbClr val="8A9BBF"/>
                </a:solidFill>
              </a:rPr>
              <a:t> + </a:t>
            </a:r>
            <a:r>
              <a:rPr lang="en-US" sz="1100" b="1" dirty="0">
                <a:solidFill>
                  <a:srgbClr val="4A9EFF"/>
                </a:solidFill>
              </a:rPr>
              <a:t>Leaderboard</a:t>
            </a:r>
            <a:r>
              <a:rPr lang="en-US" sz="1100" dirty="0">
                <a:solidFill>
                  <a:srgbClr val="8A9BBF"/>
                </a:solidFill>
              </a:rPr>
              <a:t> (edit tracking)  •  </a:t>
            </a:r>
            <a:r>
              <a:rPr lang="en-US" sz="1100" b="1" dirty="0">
                <a:solidFill>
                  <a:srgbClr val="4A9EFF"/>
                </a:solidFill>
              </a:rPr>
              <a:t>Profile</a:t>
            </a:r>
            <a:r>
              <a:rPr lang="en-US" sz="1100" dirty="0">
                <a:solidFill>
                  <a:srgbClr val="8A9BBF"/>
                </a:solidFill>
              </a:rPr>
              <a:t> (cell history, favorites)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114800" cy="36576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54864" cy="36576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1810512"/>
            <a:ext cx="109728" cy="109728"/>
          </a:xfrm>
          <a:prstGeom prst="ellipse">
            <a:avLst/>
          </a:prstGeom>
          <a:solidFill>
            <a:srgbClr val="666666"/>
          </a:solidFill>
          <a:ln/>
          <a:effectLst>
            <a:outerShdw blurRad="50800" dist="50800" dir="16200000" algn="bl" rotWithShape="0">
              <a:srgbClr val="666666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84064" y="17922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None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1810512"/>
            <a:ext cx="109728" cy="109728"/>
          </a:xfrm>
          <a:prstGeom prst="ellipse">
            <a:avLst/>
          </a:prstGeom>
          <a:solidFill>
            <a:srgbClr val="4CAF50"/>
          </a:solidFill>
          <a:ln/>
          <a:effectLst>
            <a:outerShdw blurRad="50800" dist="50800" dir="16200000" algn="bl" rotWithShape="0">
              <a:srgbClr val="4CAF5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44184" y="17922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Annotated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1810512"/>
            <a:ext cx="109728" cy="109728"/>
          </a:xfrm>
          <a:prstGeom prst="ellipse">
            <a:avLst/>
          </a:prstGeom>
          <a:solidFill>
            <a:srgbClr val="42A5F5"/>
          </a:solidFill>
          <a:ln/>
          <a:effectLst>
            <a:outerShdw blurRad="50800" dist="50800" dir="16200000" algn="bl" rotWithShape="0">
              <a:srgbClr val="42A5F5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41464" y="17922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Complete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09560" y="1810512"/>
            <a:ext cx="109728" cy="109728"/>
          </a:xfrm>
          <a:prstGeom prst="ellipse">
            <a:avLst/>
          </a:prstGeom>
          <a:solidFill>
            <a:srgbClr val="CE93D8"/>
          </a:solidFill>
          <a:ln/>
          <a:effectLst>
            <a:outerShdw blurRad="50800" dist="50800" dir="16200000" algn="bl" rotWithShape="0">
              <a:srgbClr val="CE93D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55864" y="17922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Both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057400"/>
            <a:ext cx="274320" cy="274320"/>
          </a:xfrm>
          <a:prstGeom prst="ellipse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0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 Complete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203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Toggle completion status via CAVE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542032"/>
            <a:ext cx="274320" cy="274320"/>
          </a:xfrm>
          <a:prstGeom prst="ellipse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0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 Type Annotation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6883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Dropdown presets + free-text, saved to CAVE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026664"/>
            <a:ext cx="274320" cy="274320"/>
          </a:xfrm>
          <a:prstGeom prst="ellipse">
            <a:avLst/>
          </a:prstGeom>
          <a:solidFill>
            <a:srgbClr val="00D2FF">
              <a:alpha val="20000"/>
            </a:srgbClr>
          </a:solidFill>
          <a:ln w="127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0" y="3008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Recolor Segment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9 presets + custom picker, applied to neuroglancer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511296"/>
            <a:ext cx="274320" cy="274320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Claim Cell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657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Max 5 concurrent claims, golden highlight, 24h expiry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3995928"/>
            <a:ext cx="274320" cy="274320"/>
          </a:xfrm>
          <a:prstGeom prst="ellipse">
            <a:avLst/>
          </a:prstGeom>
          <a:solidFill>
            <a:srgbClr val="FF9500">
              <a:alpha val="20000"/>
            </a:srgbClr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for Help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41422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Issue chips + notes, creates help request in Supabase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4480560"/>
            <a:ext cx="274320" cy="274320"/>
          </a:xfrm>
          <a:prstGeom prst="ellipse">
            <a:avLst/>
          </a:prstGeom>
          <a:solidFill>
            <a:srgbClr val="CE93D8">
              <a:alpha val="20000"/>
            </a:srgbClr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0352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Change Log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46268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Link to CAVE progress API for edit history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617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F"/>
                </a:solidFill>
              </a:rPr>
              <a:t>button_service.ts</a:t>
            </a:r>
            <a:r>
              <a:rPr lang="en-US" sz="900" dirty="0">
                <a:solidFill>
                  <a:srgbClr val="8A9BBF"/>
                </a:solidFill>
              </a:rPr>
              <a:t>  •  </a:t>
            </a:r>
            <a:r>
              <a:rPr lang="en-US" sz="900" b="1" dirty="0">
                <a:solidFill>
                  <a:srgbClr val="4A9EFF"/>
                </a:solidFill>
              </a:rPr>
              <a:t>lightbulb_service.ts</a:t>
            </a:r>
            <a:r>
              <a:rPr lang="en-US" sz="900" dirty="0">
                <a:solidFill>
                  <a:srgbClr val="8A9BBF"/>
                </a:solidFill>
              </a:rPr>
              <a:t>  •  </a:t>
            </a:r>
            <a:r>
              <a:rPr lang="en-US" sz="900" b="1" dirty="0">
                <a:solidFill>
                  <a:srgbClr val="4A9EFF"/>
                </a:solidFill>
              </a:rPr>
              <a:t>lightbulb_menu.css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F"/>
                </a:solidFill>
              </a:rPr>
              <a:t>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0" cy="27432"/>
          </a:xfrm>
          <a:prstGeom prst="rect">
            <a:avLst/>
          </a:prstGeom>
          <a:solidFill>
            <a:srgbClr val="4A9E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Holographic sci-fi theme — where each element is used across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68680" cy="411480"/>
          </a:xfrm>
          <a:prstGeom prst="rect">
            <a:avLst/>
          </a:prstGeom>
          <a:solidFill>
            <a:srgbClr val="0A122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Navy BG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#0A1223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90472" y="1280160"/>
            <a:ext cx="868680" cy="411480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0472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Cyan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904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#4A9EFF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23744" y="1280160"/>
            <a:ext cx="868680" cy="411480"/>
          </a:xfrm>
          <a:prstGeom prst="rect">
            <a:avLst/>
          </a:prstGeom>
          <a:solidFill>
            <a:srgbClr val="00D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Teal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23744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#00D2FF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57016" y="1280160"/>
            <a:ext cx="868680" cy="411480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57016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Purple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7016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#CE93D8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90288" y="1280160"/>
            <a:ext cx="868680" cy="4114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0288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Green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90288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#4CAF50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23560" y="1280160"/>
            <a:ext cx="868680" cy="41148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23560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#FFD700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56832" y="1280160"/>
            <a:ext cx="868680" cy="411480"/>
          </a:xfrm>
          <a:prstGeom prst="rect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56832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Orange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5683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#FF9500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90104" y="1280160"/>
            <a:ext cx="868680" cy="41148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90104" y="17190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90104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F"/>
                </a:solidFill>
              </a:rPr>
              <a:t>#42A5F5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148840"/>
            <a:ext cx="3931920" cy="9144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148840"/>
            <a:ext cx="54864" cy="914400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22219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</a:rPr>
              <a:t>Holographic Panels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2423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Radial-gradient backdrop + blur(12px) + cyan border glow + inset shadow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2697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</a:rPr>
              <a:t>All 26 panels: Cell Library, Profile, Leaderboard, Chat, Admin Hub, etc.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148840"/>
            <a:ext cx="3931920" cy="9144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2148840"/>
            <a:ext cx="54864" cy="914400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22219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93D8"/>
                </a:solidFill>
              </a:rPr>
              <a:t>Achievement Toast &amp; Hero Overlay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2423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Full-screen celebration: hex grid, shockwave ring, orbital electrons, scan line, confetti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2697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</a:rPr>
              <a:t>AchievementToast — badge unlocks, milestones, admin-awarded badges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200400"/>
            <a:ext cx="3931920" cy="9144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32735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Segment Status Pips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Color-coded glowing dots: gray/green/blue/purple + gold ring for claimed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3749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</a:rPr>
              <a:t>Lightbulb menu — every segment row in the Seg layers panel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200400"/>
            <a:ext cx="3931920" cy="9144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0" y="3200400"/>
            <a:ext cx="54864" cy="914400"/>
          </a:xfrm>
          <a:prstGeom prst="rect">
            <a:avLst/>
          </a:prstGeom>
          <a:solidFill>
            <a:srgbClr val="00D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7760" y="32735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FF"/>
                </a:solidFill>
              </a:rPr>
              <a:t>Particle Grid &amp; Drifting Effects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3776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6-layer radial-gradient dots drifting via CSS keyframes (25s loop)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3749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</a:rPr>
              <a:t>ModalOverlay — backdrop for all modal panels and dialogs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251960"/>
            <a:ext cx="3931920" cy="9144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57200" y="4251960"/>
            <a:ext cx="54864" cy="9144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080" y="43251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Materialize Entrance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" y="4526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Scale 0.1→1.0 + blur→sharp + brightness flash, cubic-bezier spring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" y="4800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</a:rPr>
              <a:t>SettingsPanel, CommandPalette, Toast notifications, panel opens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4251960"/>
            <a:ext cx="3931920" cy="91440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754880" y="4251960"/>
            <a:ext cx="54864" cy="914400"/>
          </a:xfrm>
          <a:prstGeom prst="rect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937760" y="43251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500"/>
                </a:solidFill>
              </a:rPr>
              <a:t>Confetti &amp; Sparkle Canvas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937760" y="4526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60fps physics: confetti burst (7 palettes, 80+ particles) + sparkle shimmer mode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37760" y="4800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</a:rPr>
              <a:t>ConfettiCelebration — quest completion, cell completion, badge unlock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5349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FF"/>
                </a:solidFill>
              </a:rPr>
              <a:t>CSS Restyle Layer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57200" y="5623560"/>
            <a:ext cx="1536192" cy="50292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0352" y="5650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F"/>
                </a:solidFill>
              </a:rPr>
              <a:t>ng-override.css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0352" y="583387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Global theme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03120" y="5623560"/>
            <a:ext cx="1536192" cy="50292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176272" y="5650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F"/>
                </a:solidFill>
              </a:rPr>
              <a:t>render_tab_restyle.css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176272" y="583387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Render/Seg controls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49040" y="5623560"/>
            <a:ext cx="1536192" cy="50292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22192" y="5650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F"/>
                </a:solidFill>
              </a:rPr>
              <a:t>annotations_restyle.css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822192" y="583387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Annotation panel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394960" y="5623560"/>
            <a:ext cx="1536192" cy="50292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468112" y="5650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F"/>
                </a:solidFill>
              </a:rPr>
              <a:t>layer_bar_restyle.css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468112" y="583387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Layer bar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040880" y="5623560"/>
            <a:ext cx="1536192" cy="502920"/>
          </a:xfrm>
          <a:prstGeom prst="rect">
            <a:avLst/>
          </a:prstGeom>
          <a:solidFill>
            <a:srgbClr val="111C2E"/>
          </a:solidFill>
          <a:ln w="1270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114032" y="5650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F"/>
                </a:solidFill>
              </a:rPr>
              <a:t>lightbulb_menu.css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114032" y="583387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</a:rPr>
              <a:t>Seg dot menu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On-screen Show (16:9)</PresentationFormat>
  <Paragraphs>80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EyeWire II - New Slides</dc:title>
  <dc:subject>PptxGenJS Presentation</dc:subject>
  <dc:creator>Amy Sterling</dc:creator>
  <cp:lastModifiedBy>Amy L. Sterling</cp:lastModifiedBy>
  <cp:revision>1</cp:revision>
  <dcterms:created xsi:type="dcterms:W3CDTF">2026-03-21T00:42:43Z</dcterms:created>
  <dcterms:modified xsi:type="dcterms:W3CDTF">2026-03-21T00:47:20Z</dcterms:modified>
</cp:coreProperties>
</file>